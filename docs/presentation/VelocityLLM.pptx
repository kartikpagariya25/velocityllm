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68580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team. One line: the batch size follows the latency target.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batch of 8, 24 requests per second. 71 seconds p99 against an 8 second target. Only 12% on time.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verbs: measure, grow, cut. Reveal one at a time.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governor rig: shutter is the limit, dial is p99, spring is the cut. This is a model of the controller rule, not a measurement.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Grow 1, 2, 4. Cut to 0.75 on an SLA breach or memory over 94%. Bounded 2 to 32.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path from client to vLLM. Feedback from p99 and KV-cache memory returns to the controller.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sweep on the laptop RTX 5050. The orange line stays under the SLA at every rate.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24 requests per second: on time 12% to 100%, goodput 80 to 2,109 tokens per second.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around the scheduler: backends, service, load tools, web app, package, deploy scripts.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numbers and the install command.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.sv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TY AIDS · G DIV · PROJECT 1"/>
          <p:cNvSpPr txBox="1"/>
          <p:nvPr/>
        </p:nvSpPr>
        <p:spPr>
          <a:xfrm>
            <a:off x="825500" y="1792288"/>
            <a:ext cx="329872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182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TY AIDS · G DIV · PROJECT 1</a:t>
            </a:r>
            <a:endParaRPr lang="en-US" sz="1300" dirty="0"/>
          </a:p>
        </p:txBody>
      </p:sp>
      <p:sp>
        <p:nvSpPr>
          <p:cNvPr id="3" name="Text: Velocity LLM"/>
          <p:cNvSpPr txBox="1"/>
          <p:nvPr/>
        </p:nvSpPr>
        <p:spPr>
          <a:xfrm>
            <a:off x="825500" y="2474913"/>
            <a:ext cx="6494661" cy="11461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0" b="1" spc="-475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Velocity</a:t>
            </a:r>
            <a:r>
              <a:rPr lang="en-US" sz="9500" b="1" spc="-475" dirty="0">
                <a:solidFill>
                  <a:srgbClr val="FF4D1C"/>
                </a:solidFill>
                <a:latin typeface="VL Grotesk"/>
                <a:ea typeface="VL Grotesk"/>
                <a:cs typeface="VL Grotesk"/>
              </a:rPr>
              <a:t>LLM</a:t>
            </a:r>
            <a:endParaRPr lang="en-US" sz="9500" dirty="0"/>
          </a:p>
        </p:txBody>
      </p:sp>
      <p:sp>
        <p:nvSpPr>
          <p:cNvPr id="4" name="Text: SLA-aware dynamic batching for LLM servi"/>
          <p:cNvSpPr txBox="1"/>
          <p:nvPr/>
        </p:nvSpPr>
        <p:spPr>
          <a:xfrm>
            <a:off x="825500" y="3662363"/>
            <a:ext cx="8522097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64" dirty="0">
                <a:solidFill>
                  <a:srgbClr val="B9B9B2"/>
                </a:solidFill>
                <a:latin typeface="VL Grotesk"/>
                <a:ea typeface="VL Grotesk"/>
                <a:cs typeface="VL Grotesk"/>
              </a:rPr>
              <a:t>SLA-aware dynamic batching for LLM serving</a:t>
            </a:r>
            <a:endParaRPr lang="en-US" sz="3200" dirty="0"/>
          </a:p>
        </p:txBody>
      </p:sp>
      <p:sp>
        <p:nvSpPr>
          <p:cNvPr id="5" name="Text: Dynamic Batching Engine for LLM Inferenc"/>
          <p:cNvSpPr txBox="1"/>
          <p:nvPr/>
        </p:nvSpPr>
        <p:spPr>
          <a:xfrm>
            <a:off x="825500" y="4703763"/>
            <a:ext cx="520253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Dynamic Batching Engine for LLM Inference Serving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THE PROBLEM"/>
          <p:cNvSpPr txBox="1"/>
          <p:nvPr/>
        </p:nvSpPr>
        <p:spPr>
          <a:xfrm>
            <a:off x="825500" y="685800"/>
            <a:ext cx="134391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182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THE PROBLEM</a:t>
            </a:r>
            <a:endParaRPr lang="en-US" sz="1300" dirty="0"/>
          </a:p>
        </p:txBody>
      </p:sp>
      <p:sp>
        <p:nvSpPr>
          <p:cNvPr id="3" name="Text: A fixed batch is a guess."/>
          <p:cNvSpPr txBox="1"/>
          <p:nvPr/>
        </p:nvSpPr>
        <p:spPr>
          <a:xfrm>
            <a:off x="825500" y="1150620"/>
            <a:ext cx="6678613" cy="640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spc="-144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A fixed batch is a guess.</a:t>
            </a:r>
            <a:endParaRPr lang="en-US" sz="4800" dirty="0"/>
          </a:p>
        </p:txBody>
      </p:sp>
      <p:sp>
        <p:nvSpPr>
          <p:cNvPr id="4" name="Text: 71.3 s"/>
          <p:cNvSpPr txBox="1"/>
          <p:nvPr/>
        </p:nvSpPr>
        <p:spPr>
          <a:xfrm>
            <a:off x="825500" y="2424410"/>
            <a:ext cx="5712023" cy="1587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 b="1" spc="-4" dirty="0">
                <a:solidFill>
                  <a:srgbClr val="B9B9B2"/>
                </a:solidFill>
                <a:latin typeface="VL Mono"/>
                <a:ea typeface="VL Mono"/>
                <a:cs typeface="VL Mono"/>
              </a:rPr>
              <a:t>71.3 s</a:t>
            </a:r>
            <a:endParaRPr lang="en-US" sz="12500" dirty="0"/>
          </a:p>
        </p:txBody>
      </p:sp>
      <p:sp>
        <p:nvSpPr>
          <p:cNvPr id="5" name="Text: p99 latency with a static batch of 8 at "/>
          <p:cNvSpPr txBox="1"/>
          <p:nvPr/>
        </p:nvSpPr>
        <p:spPr>
          <a:xfrm>
            <a:off x="6893123" y="3255070"/>
            <a:ext cx="3188990" cy="10894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p99 latency with a static</a:t>
            </a:r>
            <a:br>
              <a:rPr lang="en-US" sz="2200"/>
            </a:br>
            <a:r>
              <a:rPr lang="en-US" sz="22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batch of 8 at 24 requests</a:t>
            </a:r>
            <a:br>
              <a:rPr lang="en-US" sz="2200"/>
            </a:br>
            <a:r>
              <a:rPr lang="en-US" sz="22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per second</a:t>
            </a:r>
            <a:endParaRPr lang="en-US" sz="2200" dirty="0"/>
          </a:p>
        </p:txBody>
      </p:sp>
      <p:sp>
        <p:nvSpPr>
          <p:cNvPr id="6" name="Text: The SLA is 8 s. Only  12%  of requests m"/>
          <p:cNvSpPr txBox="1"/>
          <p:nvPr/>
        </p:nvSpPr>
        <p:spPr>
          <a:xfrm>
            <a:off x="825500" y="4710172"/>
            <a:ext cx="5641876" cy="391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pc="-4" dirty="0">
                <a:solidFill>
                  <a:srgbClr val="F4F2EC"/>
                </a:solidFill>
                <a:latin typeface="VL Geist"/>
                <a:ea typeface="VL Geist"/>
                <a:cs typeface="VL Geist"/>
              </a:rPr>
              <a:t>The SLA is 8 s. Only </a:t>
            </a:r>
            <a:r>
              <a:rPr lang="en-US" sz="2200" spc="-4" dirty="0">
                <a:solidFill>
                  <a:srgbClr val="FF4D1C"/>
                </a:solidFill>
                <a:latin typeface="VL Geist"/>
                <a:ea typeface="VL Geist"/>
                <a:cs typeface="VL Geist"/>
              </a:rPr>
              <a:t>12%</a:t>
            </a:r>
            <a:r>
              <a:rPr lang="en-US" sz="2200" spc="-4" dirty="0">
                <a:solidFill>
                  <a:srgbClr val="F4F2EC"/>
                </a:solidFill>
                <a:latin typeface="VL Geist"/>
                <a:ea typeface="VL Geist"/>
                <a:cs typeface="VL Geist"/>
              </a:rPr>
              <a:t> of requests made it.</a:t>
            </a:r>
            <a:endParaRPr lang="en-US" sz="2200" dirty="0"/>
          </a:p>
        </p:txBody>
      </p:sp>
      <p:sp>
        <p:nvSpPr>
          <p:cNvPr id="7" name="Text: VELOCITYLLM"/>
          <p:cNvSpPr txBox="1"/>
          <p:nvPr/>
        </p:nvSpPr>
        <p:spPr>
          <a:xfrm>
            <a:off x="825500" y="6305550"/>
            <a:ext cx="1075730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10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VELOCITYLLM</a:t>
            </a:r>
            <a:endParaRPr lang="en-US" sz="1100" dirty="0"/>
          </a:p>
        </p:txBody>
      </p:sp>
      <p:sp>
        <p:nvSpPr>
          <p:cNvPr id="8" name="Text: 02 / 10"/>
          <p:cNvSpPr txBox="1"/>
          <p:nvPr/>
        </p:nvSpPr>
        <p:spPr>
          <a:xfrm>
            <a:off x="10783094" y="6305550"/>
            <a:ext cx="58340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02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THE IDEA"/>
          <p:cNvSpPr txBox="1"/>
          <p:nvPr/>
        </p:nvSpPr>
        <p:spPr>
          <a:xfrm>
            <a:off x="825500" y="685800"/>
            <a:ext cx="977404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182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THE IDEA</a:t>
            </a:r>
            <a:endParaRPr lang="en-US" sz="1300" dirty="0"/>
          </a:p>
        </p:txBody>
      </p:sp>
      <p:sp>
        <p:nvSpPr>
          <p:cNvPr id="3" name="Text: Let the latency target set the batch."/>
          <p:cNvSpPr txBox="1"/>
          <p:nvPr/>
        </p:nvSpPr>
        <p:spPr>
          <a:xfrm>
            <a:off x="825500" y="1150620"/>
            <a:ext cx="10152856" cy="640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spc="-144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Let the latency target set the batch.</a:t>
            </a:r>
            <a:endParaRPr lang="en-US" sz="4800" dirty="0"/>
          </a:p>
        </p:txBody>
      </p:sp>
      <p:sp>
        <p:nvSpPr>
          <p:cNvPr id="4" name="Border"/>
          <p:cNvSpPr/>
          <p:nvPr/>
        </p:nvSpPr>
        <p:spPr>
          <a:xfrm>
            <a:off x="825500" y="2233910"/>
            <a:ext cx="10541000" cy="6350"/>
          </a:xfrm>
          <a:prstGeom prst="rect">
            <a:avLst/>
          </a:prstGeom>
          <a:solidFill>
            <a:srgbClr val="2A2A27"/>
          </a:solidFill>
          <a:ln>
            <a:noFill/>
          </a:ln>
        </p:spPr>
      </p:sp>
      <p:sp>
        <p:nvSpPr>
          <p:cNvPr id="5" name="Text: 01"/>
          <p:cNvSpPr txBox="1"/>
          <p:nvPr/>
        </p:nvSpPr>
        <p:spPr>
          <a:xfrm>
            <a:off x="825500" y="2646660"/>
            <a:ext cx="227608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FF4D1C"/>
                </a:solidFill>
                <a:latin typeface="VL Mono"/>
                <a:ea typeface="VL Mono"/>
                <a:cs typeface="VL Mono"/>
              </a:rPr>
              <a:t>01</a:t>
            </a:r>
            <a:endParaRPr lang="en-US" sz="1500" dirty="0"/>
          </a:p>
        </p:txBody>
      </p:sp>
      <p:sp>
        <p:nvSpPr>
          <p:cNvPr id="6" name="Text: Measure"/>
          <p:cNvSpPr txBox="1"/>
          <p:nvPr/>
        </p:nvSpPr>
        <p:spPr>
          <a:xfrm>
            <a:off x="1524000" y="2386310"/>
            <a:ext cx="1673324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spc="-4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Measure</a:t>
            </a:r>
            <a:endParaRPr lang="en-US" sz="3200" dirty="0"/>
          </a:p>
        </p:txBody>
      </p:sp>
      <p:sp>
        <p:nvSpPr>
          <p:cNvPr id="7" name="Text: p99 latency and GPU memory, continuously"/>
          <p:cNvSpPr txBox="1"/>
          <p:nvPr/>
        </p:nvSpPr>
        <p:spPr>
          <a:xfrm>
            <a:off x="3810000" y="2570460"/>
            <a:ext cx="504398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p99 latency and GPU memory, continuously.</a:t>
            </a:r>
            <a:endParaRPr lang="en-US" sz="2000" dirty="0"/>
          </a:p>
        </p:txBody>
      </p:sp>
      <p:sp>
        <p:nvSpPr>
          <p:cNvPr id="8" name="Border"/>
          <p:cNvSpPr/>
          <p:nvPr/>
        </p:nvSpPr>
        <p:spPr>
          <a:xfrm>
            <a:off x="825500" y="3230860"/>
            <a:ext cx="10541000" cy="6350"/>
          </a:xfrm>
          <a:prstGeom prst="rect">
            <a:avLst/>
          </a:prstGeom>
          <a:solidFill>
            <a:srgbClr val="2A2A27"/>
          </a:solidFill>
          <a:ln>
            <a:noFill/>
          </a:ln>
        </p:spPr>
      </p:sp>
      <p:sp>
        <p:nvSpPr>
          <p:cNvPr id="9" name="Text: 02"/>
          <p:cNvSpPr txBox="1"/>
          <p:nvPr/>
        </p:nvSpPr>
        <p:spPr>
          <a:xfrm>
            <a:off x="825500" y="3643610"/>
            <a:ext cx="227608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FF4D1C"/>
                </a:solidFill>
                <a:latin typeface="VL Mono"/>
                <a:ea typeface="VL Mono"/>
                <a:cs typeface="VL Mono"/>
              </a:rPr>
              <a:t>02</a:t>
            </a:r>
            <a:endParaRPr lang="en-US" sz="1500" dirty="0"/>
          </a:p>
        </p:txBody>
      </p:sp>
      <p:sp>
        <p:nvSpPr>
          <p:cNvPr id="10" name="Text: Grow"/>
          <p:cNvSpPr txBox="1"/>
          <p:nvPr/>
        </p:nvSpPr>
        <p:spPr>
          <a:xfrm>
            <a:off x="1524000" y="3383260"/>
            <a:ext cx="986036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spc="-4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Grow</a:t>
            </a:r>
            <a:endParaRPr lang="en-US" sz="3200" dirty="0"/>
          </a:p>
        </p:txBody>
      </p:sp>
      <p:sp>
        <p:nvSpPr>
          <p:cNvPr id="11" name="Text: Open more slots while requests wait and "/>
          <p:cNvSpPr txBox="1"/>
          <p:nvPr/>
        </p:nvSpPr>
        <p:spPr>
          <a:xfrm>
            <a:off x="3810000" y="3567410"/>
            <a:ext cx="6395045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Open more slots while requests wait and p99 has room.</a:t>
            </a:r>
            <a:endParaRPr lang="en-US" sz="2000" dirty="0"/>
          </a:p>
        </p:txBody>
      </p:sp>
      <p:sp>
        <p:nvSpPr>
          <p:cNvPr id="12" name="Border"/>
          <p:cNvSpPr/>
          <p:nvPr/>
        </p:nvSpPr>
        <p:spPr>
          <a:xfrm>
            <a:off x="825500" y="4227810"/>
            <a:ext cx="10541000" cy="6350"/>
          </a:xfrm>
          <a:prstGeom prst="rect">
            <a:avLst/>
          </a:prstGeom>
          <a:solidFill>
            <a:srgbClr val="2A2A27"/>
          </a:solidFill>
          <a:ln>
            <a:noFill/>
          </a:ln>
        </p:spPr>
      </p:sp>
      <p:sp>
        <p:nvSpPr>
          <p:cNvPr id="13" name="Text: 03"/>
          <p:cNvSpPr txBox="1"/>
          <p:nvPr/>
        </p:nvSpPr>
        <p:spPr>
          <a:xfrm>
            <a:off x="825500" y="4640560"/>
            <a:ext cx="227608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FF4D1C"/>
                </a:solidFill>
                <a:latin typeface="VL Mono"/>
                <a:ea typeface="VL Mono"/>
                <a:cs typeface="VL Mono"/>
              </a:rPr>
              <a:t>03</a:t>
            </a:r>
            <a:endParaRPr lang="en-US" sz="1500" dirty="0"/>
          </a:p>
        </p:txBody>
      </p:sp>
      <p:sp>
        <p:nvSpPr>
          <p:cNvPr id="14" name="Text: Cut"/>
          <p:cNvSpPr txBox="1"/>
          <p:nvPr/>
        </p:nvSpPr>
        <p:spPr>
          <a:xfrm>
            <a:off x="1524000" y="4380210"/>
            <a:ext cx="695523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spc="-4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Cut</a:t>
            </a:r>
            <a:endParaRPr lang="en-US" sz="3200" dirty="0"/>
          </a:p>
        </p:txBody>
      </p:sp>
      <p:sp>
        <p:nvSpPr>
          <p:cNvPr id="15" name="Text: Pull back the moment either limit is hit"/>
          <p:cNvSpPr txBox="1"/>
          <p:nvPr/>
        </p:nvSpPr>
        <p:spPr>
          <a:xfrm>
            <a:off x="3810000" y="4564360"/>
            <a:ext cx="4495105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Pull back the moment either limit is hit.</a:t>
            </a:r>
            <a:endParaRPr lang="en-US" sz="2000" dirty="0"/>
          </a:p>
        </p:txBody>
      </p:sp>
      <p:sp>
        <p:nvSpPr>
          <p:cNvPr id="16" name="Text: VELOCITYLLM"/>
          <p:cNvSpPr txBox="1"/>
          <p:nvPr/>
        </p:nvSpPr>
        <p:spPr>
          <a:xfrm>
            <a:off x="825500" y="6305550"/>
            <a:ext cx="1075730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10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VELOCITYLLM</a:t>
            </a:r>
            <a:endParaRPr lang="en-US" sz="1100" dirty="0"/>
          </a:p>
        </p:txBody>
      </p:sp>
      <p:sp>
        <p:nvSpPr>
          <p:cNvPr id="17" name="Text: 03 / 10"/>
          <p:cNvSpPr txBox="1"/>
          <p:nvPr/>
        </p:nvSpPr>
        <p:spPr>
          <a:xfrm>
            <a:off x="10783094" y="6305550"/>
            <a:ext cx="58340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03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ANATOMY · THE BATCH GOVERNOR"/>
          <p:cNvSpPr txBox="1"/>
          <p:nvPr/>
        </p:nvSpPr>
        <p:spPr>
          <a:xfrm>
            <a:off x="825500" y="685800"/>
            <a:ext cx="3420963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182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ANATOMY · THE BATCH GOVERNOR</a:t>
            </a:r>
            <a:endParaRPr lang="en-US" sz="1300" dirty="0"/>
          </a:p>
        </p:txBody>
      </p:sp>
      <p:pic>
        <p:nvPicPr>
          <p:cNvPr id="3" name="Image: Isometric bench rig showing the batch govern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952500"/>
            <a:ext cx="7874000" cy="4744541"/>
          </a:xfrm>
          <a:prstGeom prst="roundRect">
            <a:avLst>
              <a:gd name="adj" fmla="val 2409"/>
            </a:avLst>
          </a:prstGeom>
          <a:ln>
            <a:noFill/>
          </a:ln>
        </p:spPr>
      </p:pic>
      <p:sp>
        <p:nvSpPr>
          <p:cNvPr id="4" name="Text: Shutter"/>
          <p:cNvSpPr txBox="1"/>
          <p:nvPr/>
        </p:nvSpPr>
        <p:spPr>
          <a:xfrm>
            <a:off x="8890000" y="1168400"/>
            <a:ext cx="1173956" cy="495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spc="-4" dirty="0">
                <a:solidFill>
                  <a:srgbClr val="FF4D1C"/>
                </a:solidFill>
                <a:latin typeface="VL Grotesk"/>
                <a:ea typeface="VL Grotesk"/>
                <a:cs typeface="VL Grotesk"/>
              </a:rPr>
              <a:t>Shutter</a:t>
            </a:r>
            <a:endParaRPr lang="en-US" sz="2600" dirty="0"/>
          </a:p>
        </p:txBody>
      </p:sp>
      <p:sp>
        <p:nvSpPr>
          <p:cNvPr id="5" name="Text: sets how many of the 32 slots are open"/>
          <p:cNvSpPr txBox="1"/>
          <p:nvPr/>
        </p:nvSpPr>
        <p:spPr>
          <a:xfrm>
            <a:off x="8890000" y="1753295"/>
            <a:ext cx="2427387" cy="58281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sets how many of the 32</a:t>
            </a:r>
            <a:br>
              <a:rPr lang="en-US" sz="1700"/>
            </a:br>
            <a:r>
              <a:rPr lang="en-US" sz="17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slots are open</a:t>
            </a:r>
            <a:endParaRPr lang="en-US" sz="1700" dirty="0"/>
          </a:p>
        </p:txBody>
      </p:sp>
      <p:sp>
        <p:nvSpPr>
          <p:cNvPr id="6" name="Text: Dial"/>
          <p:cNvSpPr txBox="1"/>
          <p:nvPr/>
        </p:nvSpPr>
        <p:spPr>
          <a:xfrm>
            <a:off x="8890000" y="2614811"/>
            <a:ext cx="580529" cy="495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spc="-4" dirty="0">
                <a:solidFill>
                  <a:srgbClr val="FF4D1C"/>
                </a:solidFill>
                <a:latin typeface="VL Grotesk"/>
                <a:ea typeface="VL Grotesk"/>
                <a:cs typeface="VL Grotesk"/>
              </a:rPr>
              <a:t>Dial</a:t>
            </a:r>
            <a:endParaRPr lang="en-US" sz="2600" dirty="0"/>
          </a:p>
        </p:txBody>
      </p:sp>
      <p:sp>
        <p:nvSpPr>
          <p:cNvPr id="7" name="Text: p99 latency against the red SLA zone"/>
          <p:cNvSpPr txBox="1"/>
          <p:nvPr/>
        </p:nvSpPr>
        <p:spPr>
          <a:xfrm>
            <a:off x="8890000" y="3199705"/>
            <a:ext cx="2307530" cy="58281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p99 latency against the</a:t>
            </a:r>
            <a:br>
              <a:rPr lang="en-US" sz="1700"/>
            </a:br>
            <a:r>
              <a:rPr lang="en-US" sz="17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red SLA zone</a:t>
            </a:r>
            <a:endParaRPr lang="en-US" sz="1700" dirty="0"/>
          </a:p>
        </p:txBody>
      </p:sp>
      <p:sp>
        <p:nvSpPr>
          <p:cNvPr id="8" name="Text: Spring"/>
          <p:cNvSpPr txBox="1"/>
          <p:nvPr/>
        </p:nvSpPr>
        <p:spPr>
          <a:xfrm>
            <a:off x="8890000" y="4061222"/>
            <a:ext cx="1038126" cy="495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spc="-4" dirty="0">
                <a:solidFill>
                  <a:srgbClr val="FF4D1C"/>
                </a:solidFill>
                <a:latin typeface="VL Grotesk"/>
                <a:ea typeface="VL Grotesk"/>
                <a:cs typeface="VL Grotesk"/>
              </a:rPr>
              <a:t>Spring</a:t>
            </a:r>
            <a:endParaRPr lang="en-US" sz="2600" dirty="0"/>
          </a:p>
        </p:txBody>
      </p:sp>
      <p:sp>
        <p:nvSpPr>
          <p:cNvPr id="9" name="Text: pulls the shutter back when p99 crosses"/>
          <p:cNvSpPr txBox="1"/>
          <p:nvPr/>
        </p:nvSpPr>
        <p:spPr>
          <a:xfrm>
            <a:off x="8890000" y="4646116"/>
            <a:ext cx="2148979" cy="58281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pulls the shutter back</a:t>
            </a:r>
            <a:br>
              <a:rPr lang="en-US" sz="1700"/>
            </a:br>
            <a:r>
              <a:rPr lang="en-US" sz="17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when p99 crosses</a:t>
            </a:r>
            <a:endParaRPr lang="en-US" sz="1700" dirty="0"/>
          </a:p>
        </p:txBody>
      </p:sp>
      <p:sp>
        <p:nvSpPr>
          <p:cNvPr id="10" name="Text: VELOCITYLLM"/>
          <p:cNvSpPr txBox="1"/>
          <p:nvPr/>
        </p:nvSpPr>
        <p:spPr>
          <a:xfrm>
            <a:off x="825500" y="6305550"/>
            <a:ext cx="1075730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10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VELOCITYLLM</a:t>
            </a:r>
            <a:endParaRPr lang="en-US" sz="1100" dirty="0"/>
          </a:p>
        </p:txBody>
      </p:sp>
      <p:sp>
        <p:nvSpPr>
          <p:cNvPr id="11" name="Text: 04 / 10"/>
          <p:cNvSpPr txBox="1"/>
          <p:nvPr/>
        </p:nvSpPr>
        <p:spPr>
          <a:xfrm>
            <a:off x="10783094" y="6305550"/>
            <a:ext cx="58340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04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THE CONTROLLER"/>
          <p:cNvSpPr txBox="1"/>
          <p:nvPr/>
        </p:nvSpPr>
        <p:spPr>
          <a:xfrm>
            <a:off x="825500" y="685800"/>
            <a:ext cx="1710531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182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THE CONTROLLER</a:t>
            </a:r>
            <a:endParaRPr lang="en-US" sz="1300" dirty="0"/>
          </a:p>
        </p:txBody>
      </p:sp>
      <p:sp>
        <p:nvSpPr>
          <p:cNvPr id="3" name="Text: Additive up, multiplicative down."/>
          <p:cNvSpPr txBox="1"/>
          <p:nvPr/>
        </p:nvSpPr>
        <p:spPr>
          <a:xfrm>
            <a:off x="825500" y="1150620"/>
            <a:ext cx="9008666" cy="640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spc="-144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Additive up, multiplicative down.</a:t>
            </a:r>
            <a:endParaRPr lang="en-US" sz="4800" dirty="0"/>
          </a:p>
        </p:txBody>
      </p:sp>
      <p:sp>
        <p:nvSpPr>
          <p:cNvPr id="4" name="Rounded Rectangle"/>
          <p:cNvSpPr/>
          <p:nvPr/>
        </p:nvSpPr>
        <p:spPr>
          <a:xfrm>
            <a:off x="828675" y="2135485"/>
            <a:ext cx="5175250" cy="1835150"/>
          </a:xfrm>
          <a:prstGeom prst="roundRect">
            <a:avLst>
              <a:gd name="adj" fmla="val 6055"/>
            </a:avLst>
          </a:prstGeom>
          <a:solidFill>
            <a:srgbClr val="121211"/>
          </a:solidFill>
          <a:ln w="6350" cap="flat" cmpd="sng" algn="ctr">
            <a:solidFill>
              <a:srgbClr val="2A2A27"/>
            </a:solidFill>
            <a:miter lim="800000"/>
          </a:ln>
        </p:spPr>
      </p:sp>
      <p:sp>
        <p:nvSpPr>
          <p:cNvPr id="5" name="Text: GROW"/>
          <p:cNvSpPr txBox="1"/>
          <p:nvPr/>
        </p:nvSpPr>
        <p:spPr>
          <a:xfrm>
            <a:off x="1085850" y="2329160"/>
            <a:ext cx="41354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5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GROW</a:t>
            </a:r>
            <a:endParaRPr lang="en-US" sz="1100" dirty="0"/>
          </a:p>
        </p:txBody>
      </p:sp>
      <p:sp>
        <p:nvSpPr>
          <p:cNvPr id="6" name="Text: +1, +2, +4"/>
          <p:cNvSpPr txBox="1"/>
          <p:nvPr/>
        </p:nvSpPr>
        <p:spPr>
          <a:xfrm>
            <a:off x="1085850" y="2602210"/>
            <a:ext cx="3500140" cy="876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spc="-4" dirty="0">
                <a:solidFill>
                  <a:srgbClr val="FF4D1C"/>
                </a:solidFill>
                <a:latin typeface="VL Mono"/>
                <a:ea typeface="VL Mono"/>
                <a:cs typeface="VL Mono"/>
              </a:rPr>
              <a:t>+1, +2, +4</a:t>
            </a:r>
            <a:endParaRPr lang="en-US" sz="4600" dirty="0"/>
          </a:p>
        </p:txBody>
      </p:sp>
      <p:sp>
        <p:nvSpPr>
          <p:cNvPr id="7" name="Text: while requests wait and memory has room"/>
          <p:cNvSpPr txBox="1"/>
          <p:nvPr/>
        </p:nvSpPr>
        <p:spPr>
          <a:xfrm>
            <a:off x="1085850" y="3588365"/>
            <a:ext cx="3531989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while requests wait and memory has room</a:t>
            </a:r>
            <a:endParaRPr lang="en-US" sz="1450" dirty="0"/>
          </a:p>
        </p:txBody>
      </p:sp>
      <p:sp>
        <p:nvSpPr>
          <p:cNvPr id="8" name="Rounded Rectangle"/>
          <p:cNvSpPr/>
          <p:nvPr/>
        </p:nvSpPr>
        <p:spPr>
          <a:xfrm>
            <a:off x="6188075" y="2135485"/>
            <a:ext cx="5175250" cy="1835150"/>
          </a:xfrm>
          <a:prstGeom prst="roundRect">
            <a:avLst>
              <a:gd name="adj" fmla="val 6055"/>
            </a:avLst>
          </a:prstGeom>
          <a:solidFill>
            <a:srgbClr val="121211"/>
          </a:solidFill>
          <a:ln w="6350" cap="flat" cmpd="sng" algn="ctr">
            <a:solidFill>
              <a:srgbClr val="2A2A27"/>
            </a:solidFill>
            <a:miter lim="800000"/>
          </a:ln>
        </p:spPr>
      </p:sp>
      <p:sp>
        <p:nvSpPr>
          <p:cNvPr id="9" name="Text: CUT"/>
          <p:cNvSpPr txBox="1"/>
          <p:nvPr/>
        </p:nvSpPr>
        <p:spPr>
          <a:xfrm>
            <a:off x="6445250" y="2329160"/>
            <a:ext cx="31015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5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CUT</a:t>
            </a:r>
            <a:endParaRPr lang="en-US" sz="1100" dirty="0"/>
          </a:p>
        </p:txBody>
      </p:sp>
      <p:sp>
        <p:nvSpPr>
          <p:cNvPr id="10" name="Text: ×0.75"/>
          <p:cNvSpPr txBox="1"/>
          <p:nvPr/>
        </p:nvSpPr>
        <p:spPr>
          <a:xfrm>
            <a:off x="6445250" y="2602210"/>
            <a:ext cx="1750120" cy="876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spc="-4" dirty="0">
                <a:solidFill>
                  <a:srgbClr val="FF4D1C"/>
                </a:solidFill>
                <a:latin typeface="VL Mono"/>
                <a:ea typeface="VL Mono"/>
                <a:cs typeface="VL Mono"/>
              </a:rPr>
              <a:t>×0.75</a:t>
            </a:r>
            <a:endParaRPr lang="en-US" sz="4600" dirty="0"/>
          </a:p>
        </p:txBody>
      </p:sp>
      <p:sp>
        <p:nvSpPr>
          <p:cNvPr id="11" name="Text: when p99 passes the SLA or memory hits 9"/>
          <p:cNvSpPr txBox="1"/>
          <p:nvPr/>
        </p:nvSpPr>
        <p:spPr>
          <a:xfrm>
            <a:off x="6445250" y="3588365"/>
            <a:ext cx="3886795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when p99 passes the SLA or memory hits 94%</a:t>
            </a:r>
            <a:endParaRPr lang="en-US" sz="1450" dirty="0"/>
          </a:p>
        </p:txBody>
      </p:sp>
      <p:sp>
        <p:nvSpPr>
          <p:cNvPr id="12" name="Rounded Rectangle"/>
          <p:cNvSpPr/>
          <p:nvPr/>
        </p:nvSpPr>
        <p:spPr>
          <a:xfrm>
            <a:off x="828675" y="4154785"/>
            <a:ext cx="5175250" cy="1835150"/>
          </a:xfrm>
          <a:prstGeom prst="roundRect">
            <a:avLst>
              <a:gd name="adj" fmla="val 6055"/>
            </a:avLst>
          </a:prstGeom>
          <a:solidFill>
            <a:srgbClr val="121211"/>
          </a:solidFill>
          <a:ln w="6350" cap="flat" cmpd="sng" algn="ctr">
            <a:solidFill>
              <a:srgbClr val="2A2A27"/>
            </a:solidFill>
            <a:miter lim="800000"/>
          </a:ln>
        </p:spPr>
      </p:sp>
      <p:sp>
        <p:nvSpPr>
          <p:cNvPr id="13" name="Text: RANGE"/>
          <p:cNvSpPr txBox="1"/>
          <p:nvPr/>
        </p:nvSpPr>
        <p:spPr>
          <a:xfrm>
            <a:off x="1085850" y="4348460"/>
            <a:ext cx="516930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5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RANGE</a:t>
            </a:r>
            <a:endParaRPr lang="en-US" sz="1100" dirty="0"/>
          </a:p>
        </p:txBody>
      </p:sp>
      <p:sp>
        <p:nvSpPr>
          <p:cNvPr id="14" name="Text: 2 – 32"/>
          <p:cNvSpPr txBox="1"/>
          <p:nvPr/>
        </p:nvSpPr>
        <p:spPr>
          <a:xfrm>
            <a:off x="1085850" y="4621510"/>
            <a:ext cx="2100163" cy="876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spc="-4" dirty="0">
                <a:solidFill>
                  <a:srgbClr val="FF4D1C"/>
                </a:solidFill>
                <a:latin typeface="VL Mono"/>
                <a:ea typeface="VL Mono"/>
                <a:cs typeface="VL Mono"/>
              </a:rPr>
              <a:t>2 – 32</a:t>
            </a:r>
            <a:endParaRPr lang="en-US" sz="4600" dirty="0"/>
          </a:p>
        </p:txBody>
      </p:sp>
      <p:sp>
        <p:nvSpPr>
          <p:cNvPr id="15" name="Text: in flight, start at 8, step every 0.25 s"/>
          <p:cNvSpPr txBox="1"/>
          <p:nvPr/>
        </p:nvSpPr>
        <p:spPr>
          <a:xfrm>
            <a:off x="1085850" y="5607665"/>
            <a:ext cx="3000573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in flight, start at 8, step every 0.25 s</a:t>
            </a:r>
            <a:endParaRPr lang="en-US" sz="1450" dirty="0"/>
          </a:p>
        </p:txBody>
      </p:sp>
      <p:sp>
        <p:nvSpPr>
          <p:cNvPr id="16" name="Rounded Rectangle"/>
          <p:cNvSpPr/>
          <p:nvPr/>
        </p:nvSpPr>
        <p:spPr>
          <a:xfrm>
            <a:off x="6188075" y="4154785"/>
            <a:ext cx="5175250" cy="1835150"/>
          </a:xfrm>
          <a:prstGeom prst="roundRect">
            <a:avLst>
              <a:gd name="adj" fmla="val 6055"/>
            </a:avLst>
          </a:prstGeom>
          <a:solidFill>
            <a:srgbClr val="121211"/>
          </a:solidFill>
          <a:ln w="6350" cap="flat" cmpd="sng" algn="ctr">
            <a:solidFill>
              <a:srgbClr val="2A2A27"/>
            </a:solidFill>
            <a:miter lim="800000"/>
          </a:ln>
        </p:spPr>
      </p:sp>
      <p:sp>
        <p:nvSpPr>
          <p:cNvPr id="17" name="Text: SOFT LIMIT"/>
          <p:cNvSpPr txBox="1"/>
          <p:nvPr/>
        </p:nvSpPr>
        <p:spPr>
          <a:xfrm>
            <a:off x="6445250" y="4348460"/>
            <a:ext cx="1033859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5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SOFT LIMIT</a:t>
            </a:r>
            <a:endParaRPr lang="en-US" sz="1100" dirty="0"/>
          </a:p>
        </p:txBody>
      </p:sp>
      <p:sp>
        <p:nvSpPr>
          <p:cNvPr id="18" name="Text: −1"/>
          <p:cNvSpPr txBox="1"/>
          <p:nvPr/>
        </p:nvSpPr>
        <p:spPr>
          <a:xfrm>
            <a:off x="6445250" y="4621510"/>
            <a:ext cx="700088" cy="876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spc="-4" dirty="0">
                <a:solidFill>
                  <a:srgbClr val="FF4D1C"/>
                </a:solidFill>
                <a:latin typeface="VL Mono"/>
                <a:ea typeface="VL Mono"/>
                <a:cs typeface="VL Mono"/>
              </a:rPr>
              <a:t>−1</a:t>
            </a:r>
            <a:endParaRPr lang="en-US" sz="4600" dirty="0"/>
          </a:p>
        </p:txBody>
      </p:sp>
      <p:sp>
        <p:nvSpPr>
          <p:cNvPr id="19" name="Text: when memory passes 88%, ahead of a cut"/>
          <p:cNvSpPr txBox="1"/>
          <p:nvPr/>
        </p:nvSpPr>
        <p:spPr>
          <a:xfrm>
            <a:off x="6445250" y="5607665"/>
            <a:ext cx="3520480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when memory passes 88%, ahead of a cut</a:t>
            </a:r>
            <a:endParaRPr lang="en-US" sz="1450" dirty="0"/>
          </a:p>
        </p:txBody>
      </p:sp>
      <p:sp>
        <p:nvSpPr>
          <p:cNvPr id="20" name="Text: VELOCITYLLM"/>
          <p:cNvSpPr txBox="1"/>
          <p:nvPr/>
        </p:nvSpPr>
        <p:spPr>
          <a:xfrm>
            <a:off x="825500" y="6305550"/>
            <a:ext cx="1075730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10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VELOCITYLLM</a:t>
            </a:r>
            <a:endParaRPr lang="en-US" sz="1100" dirty="0"/>
          </a:p>
        </p:txBody>
      </p:sp>
      <p:sp>
        <p:nvSpPr>
          <p:cNvPr id="21" name="Text: 05 / 10"/>
          <p:cNvSpPr txBox="1"/>
          <p:nvPr/>
        </p:nvSpPr>
        <p:spPr>
          <a:xfrm>
            <a:off x="10783094" y="6305550"/>
            <a:ext cx="58340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05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UNDER THE HOOD"/>
          <p:cNvSpPr txBox="1"/>
          <p:nvPr/>
        </p:nvSpPr>
        <p:spPr>
          <a:xfrm>
            <a:off x="825500" y="685800"/>
            <a:ext cx="1710531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182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UNDER THE HOOD</a:t>
            </a:r>
            <a:endParaRPr lang="en-US" sz="1300" dirty="0"/>
          </a:p>
        </p:txBody>
      </p:sp>
      <p:sp>
        <p:nvSpPr>
          <p:cNvPr id="3" name="Text: Drop-in in front of vLLM."/>
          <p:cNvSpPr txBox="1"/>
          <p:nvPr/>
        </p:nvSpPr>
        <p:spPr>
          <a:xfrm>
            <a:off x="825500" y="1150620"/>
            <a:ext cx="6742906" cy="640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spc="-144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Drop-in in front of vLLM.</a:t>
            </a:r>
            <a:endParaRPr lang="en-US" sz="4800" dirty="0"/>
          </a:p>
        </p:txBody>
      </p:sp>
      <p:sp>
        <p:nvSpPr>
          <p:cNvPr id="4" name="Rounded Rectangle"/>
          <p:cNvSpPr/>
          <p:nvPr/>
        </p:nvSpPr>
        <p:spPr>
          <a:xfrm>
            <a:off x="828675" y="2427585"/>
            <a:ext cx="1771650" cy="1390650"/>
          </a:xfrm>
          <a:prstGeom prst="roundRect">
            <a:avLst>
              <a:gd name="adj" fmla="val 7991"/>
            </a:avLst>
          </a:prstGeom>
          <a:solidFill>
            <a:srgbClr val="121211"/>
          </a:solidFill>
          <a:ln w="6350" cap="flat" cmpd="sng" algn="ctr">
            <a:solidFill>
              <a:srgbClr val="2A2A27"/>
            </a:solidFill>
            <a:miter lim="800000"/>
          </a:ln>
        </p:spPr>
      </p:sp>
      <p:sp>
        <p:nvSpPr>
          <p:cNvPr id="5" name="Text: Client"/>
          <p:cNvSpPr txBox="1"/>
          <p:nvPr/>
        </p:nvSpPr>
        <p:spPr>
          <a:xfrm>
            <a:off x="996950" y="2660630"/>
            <a:ext cx="673596" cy="2654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spc="-4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Client</a:t>
            </a:r>
            <a:endParaRPr lang="en-US" sz="1900" dirty="0"/>
          </a:p>
        </p:txBody>
      </p:sp>
      <p:sp>
        <p:nvSpPr>
          <p:cNvPr id="6" name="Text: HTTP / SSE"/>
          <p:cNvSpPr txBox="1"/>
          <p:nvPr/>
        </p:nvSpPr>
        <p:spPr>
          <a:xfrm>
            <a:off x="996950" y="2994620"/>
            <a:ext cx="90934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HTTP / SSE</a:t>
            </a:r>
            <a:endParaRPr lang="en-US" sz="1200" dirty="0"/>
          </a:p>
        </p:txBody>
      </p:sp>
      <p:sp>
        <p:nvSpPr>
          <p:cNvPr id="7" name="Text: →"/>
          <p:cNvSpPr txBox="1"/>
          <p:nvPr/>
        </p:nvSpPr>
        <p:spPr>
          <a:xfrm>
            <a:off x="2692400" y="2932410"/>
            <a:ext cx="137220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→</a:t>
            </a:r>
            <a:endParaRPr lang="en-US" sz="1800" dirty="0"/>
          </a:p>
        </p:txBody>
      </p:sp>
      <p:sp>
        <p:nvSpPr>
          <p:cNvPr id="8" name="Rounded Rectangle"/>
          <p:cNvSpPr/>
          <p:nvPr/>
        </p:nvSpPr>
        <p:spPr>
          <a:xfrm>
            <a:off x="2908995" y="2427585"/>
            <a:ext cx="1771650" cy="1390650"/>
          </a:xfrm>
          <a:prstGeom prst="roundRect">
            <a:avLst>
              <a:gd name="adj" fmla="val 7991"/>
            </a:avLst>
          </a:prstGeom>
          <a:solidFill>
            <a:srgbClr val="121211"/>
          </a:solidFill>
          <a:ln w="6350" cap="flat" cmpd="sng" algn="ctr">
            <a:solidFill>
              <a:srgbClr val="2A2A27"/>
            </a:solidFill>
            <a:miter lim="800000"/>
          </a:ln>
        </p:spPr>
      </p:sp>
      <p:sp>
        <p:nvSpPr>
          <p:cNvPr id="9" name="Text: Control service"/>
          <p:cNvSpPr txBox="1"/>
          <p:nvPr/>
        </p:nvSpPr>
        <p:spPr>
          <a:xfrm>
            <a:off x="3077270" y="2660650"/>
            <a:ext cx="855762" cy="5308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spc="-4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Control</a:t>
            </a:r>
            <a:br>
              <a:rPr lang="en-US" sz="1900"/>
            </a:br>
            <a:r>
              <a:rPr lang="en-US" sz="1900" b="1" spc="-4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service</a:t>
            </a:r>
            <a:endParaRPr lang="en-US" sz="1900" dirty="0"/>
          </a:p>
        </p:txBody>
      </p:sp>
      <p:sp>
        <p:nvSpPr>
          <p:cNvPr id="10" name="Text: FastAPI :9000"/>
          <p:cNvSpPr txBox="1"/>
          <p:nvPr/>
        </p:nvSpPr>
        <p:spPr>
          <a:xfrm>
            <a:off x="3077270" y="3260030"/>
            <a:ext cx="118219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FastAPI :9000</a:t>
            </a:r>
            <a:endParaRPr lang="en-US" sz="1200" dirty="0"/>
          </a:p>
        </p:txBody>
      </p:sp>
      <p:sp>
        <p:nvSpPr>
          <p:cNvPr id="11" name="Text: →"/>
          <p:cNvSpPr txBox="1"/>
          <p:nvPr/>
        </p:nvSpPr>
        <p:spPr>
          <a:xfrm>
            <a:off x="4772720" y="2932410"/>
            <a:ext cx="137220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→</a:t>
            </a:r>
            <a:endParaRPr lang="en-US" sz="1800" dirty="0"/>
          </a:p>
        </p:txBody>
      </p:sp>
      <p:sp>
        <p:nvSpPr>
          <p:cNvPr id="12" name="Rounded Rectangle"/>
          <p:cNvSpPr/>
          <p:nvPr/>
        </p:nvSpPr>
        <p:spPr>
          <a:xfrm>
            <a:off x="4989314" y="2427585"/>
            <a:ext cx="1771650" cy="1390650"/>
          </a:xfrm>
          <a:prstGeom prst="roundRect">
            <a:avLst>
              <a:gd name="adj" fmla="val 7991"/>
            </a:avLst>
          </a:prstGeom>
          <a:solidFill>
            <a:srgbClr val="121211"/>
          </a:solidFill>
          <a:ln w="6350" cap="flat" cmpd="sng" algn="ctr">
            <a:solidFill>
              <a:srgbClr val="2A2A27"/>
            </a:solidFill>
            <a:miter lim="800000"/>
          </a:ln>
        </p:spPr>
      </p:sp>
      <p:sp>
        <p:nvSpPr>
          <p:cNvPr id="13" name="Text: SLA scheduler"/>
          <p:cNvSpPr txBox="1"/>
          <p:nvPr/>
        </p:nvSpPr>
        <p:spPr>
          <a:xfrm>
            <a:off x="5157589" y="2660650"/>
            <a:ext cx="1153021" cy="5308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spc="-4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SLA</a:t>
            </a:r>
            <a:br>
              <a:rPr lang="en-US" sz="1900"/>
            </a:br>
            <a:r>
              <a:rPr lang="en-US" sz="1900" b="1" spc="-4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scheduler</a:t>
            </a:r>
            <a:endParaRPr lang="en-US" sz="1900" dirty="0"/>
          </a:p>
        </p:txBody>
      </p:sp>
      <p:sp>
        <p:nvSpPr>
          <p:cNvPr id="14" name="Text: priority queue"/>
          <p:cNvSpPr txBox="1"/>
          <p:nvPr/>
        </p:nvSpPr>
        <p:spPr>
          <a:xfrm>
            <a:off x="5157589" y="3260030"/>
            <a:ext cx="127307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priority queue</a:t>
            </a:r>
            <a:endParaRPr lang="en-US" sz="1200" dirty="0"/>
          </a:p>
        </p:txBody>
      </p:sp>
      <p:sp>
        <p:nvSpPr>
          <p:cNvPr id="15" name="Text: →"/>
          <p:cNvSpPr txBox="1"/>
          <p:nvPr/>
        </p:nvSpPr>
        <p:spPr>
          <a:xfrm>
            <a:off x="6853039" y="2932410"/>
            <a:ext cx="137220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→</a:t>
            </a:r>
            <a:endParaRPr lang="en-US" sz="1800" dirty="0"/>
          </a:p>
        </p:txBody>
      </p:sp>
      <p:sp>
        <p:nvSpPr>
          <p:cNvPr id="16" name="Rounded Rectangle"/>
          <p:cNvSpPr/>
          <p:nvPr/>
        </p:nvSpPr>
        <p:spPr>
          <a:xfrm>
            <a:off x="7069634" y="2427585"/>
            <a:ext cx="1771650" cy="1390650"/>
          </a:xfrm>
          <a:prstGeom prst="roundRect">
            <a:avLst>
              <a:gd name="adj" fmla="val 7991"/>
            </a:avLst>
          </a:prstGeom>
          <a:solidFill>
            <a:srgbClr val="121211"/>
          </a:solidFill>
          <a:ln w="6350" cap="flat" cmpd="sng" algn="ctr">
            <a:solidFill>
              <a:srgbClr val="FF4D1C"/>
            </a:solidFill>
            <a:miter lim="800000"/>
          </a:ln>
        </p:spPr>
      </p:sp>
      <p:sp>
        <p:nvSpPr>
          <p:cNvPr id="17" name="Text: AIMD controller"/>
          <p:cNvSpPr txBox="1"/>
          <p:nvPr/>
        </p:nvSpPr>
        <p:spPr>
          <a:xfrm>
            <a:off x="7237909" y="2660650"/>
            <a:ext cx="1138734" cy="5308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spc="-4" dirty="0">
                <a:solidFill>
                  <a:srgbClr val="FF4D1C"/>
                </a:solidFill>
                <a:latin typeface="VL Grotesk"/>
                <a:ea typeface="VL Grotesk"/>
                <a:cs typeface="VL Grotesk"/>
              </a:rPr>
              <a:t>AIMD</a:t>
            </a:r>
            <a:br>
              <a:rPr lang="en-US" sz="1900"/>
            </a:br>
            <a:r>
              <a:rPr lang="en-US" sz="1900" b="1" spc="-4" dirty="0">
                <a:solidFill>
                  <a:srgbClr val="FF4D1C"/>
                </a:solidFill>
                <a:latin typeface="VL Grotesk"/>
                <a:ea typeface="VL Grotesk"/>
                <a:cs typeface="VL Grotesk"/>
              </a:rPr>
              <a:t>controller</a:t>
            </a:r>
            <a:endParaRPr lang="en-US" sz="1900" dirty="0"/>
          </a:p>
        </p:txBody>
      </p:sp>
      <p:sp>
        <p:nvSpPr>
          <p:cNvPr id="18" name="Text: limit 2 – 32"/>
          <p:cNvSpPr txBox="1"/>
          <p:nvPr/>
        </p:nvSpPr>
        <p:spPr>
          <a:xfrm>
            <a:off x="7237909" y="3260030"/>
            <a:ext cx="1091208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limit 2 – 32</a:t>
            </a:r>
            <a:endParaRPr lang="en-US" sz="1200" dirty="0"/>
          </a:p>
        </p:txBody>
      </p:sp>
      <p:sp>
        <p:nvSpPr>
          <p:cNvPr id="19" name="Text: →"/>
          <p:cNvSpPr txBox="1"/>
          <p:nvPr/>
        </p:nvSpPr>
        <p:spPr>
          <a:xfrm>
            <a:off x="8933359" y="2932410"/>
            <a:ext cx="137220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→</a:t>
            </a:r>
            <a:endParaRPr lang="en-US" sz="1800" dirty="0"/>
          </a:p>
        </p:txBody>
      </p:sp>
      <p:sp>
        <p:nvSpPr>
          <p:cNvPr id="20" name="Rounded Rectangle"/>
          <p:cNvSpPr/>
          <p:nvPr/>
        </p:nvSpPr>
        <p:spPr>
          <a:xfrm>
            <a:off x="9149953" y="2427585"/>
            <a:ext cx="1771650" cy="1390650"/>
          </a:xfrm>
          <a:prstGeom prst="roundRect">
            <a:avLst>
              <a:gd name="adj" fmla="val 7991"/>
            </a:avLst>
          </a:prstGeom>
          <a:solidFill>
            <a:srgbClr val="121211"/>
          </a:solidFill>
          <a:ln w="6350" cap="flat" cmpd="sng" algn="ctr">
            <a:solidFill>
              <a:srgbClr val="2A2A27"/>
            </a:solidFill>
            <a:miter lim="800000"/>
          </a:ln>
        </p:spPr>
      </p:sp>
      <p:sp>
        <p:nvSpPr>
          <p:cNvPr id="21" name="Text: vLLM"/>
          <p:cNvSpPr txBox="1"/>
          <p:nvPr/>
        </p:nvSpPr>
        <p:spPr>
          <a:xfrm>
            <a:off x="9318228" y="2660630"/>
            <a:ext cx="603647" cy="2654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spc="-4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vLLM</a:t>
            </a:r>
            <a:endParaRPr lang="en-US" sz="1900" dirty="0"/>
          </a:p>
        </p:txBody>
      </p:sp>
      <p:sp>
        <p:nvSpPr>
          <p:cNvPr id="22" name="Text: AsyncLLMEngine"/>
          <p:cNvSpPr txBox="1"/>
          <p:nvPr/>
        </p:nvSpPr>
        <p:spPr>
          <a:xfrm>
            <a:off x="9318228" y="2994620"/>
            <a:ext cx="1273076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AsyncLLMEngine</a:t>
            </a:r>
            <a:endParaRPr lang="en-US" sz="1200" dirty="0"/>
          </a:p>
        </p:txBody>
      </p:sp>
      <p:sp>
        <p:nvSpPr>
          <p:cNvPr id="23" name="Text: p99 and KV-cache memory flow back into t"/>
          <p:cNvSpPr txBox="1"/>
          <p:nvPr/>
        </p:nvSpPr>
        <p:spPr>
          <a:xfrm>
            <a:off x="825500" y="4246860"/>
            <a:ext cx="6144816" cy="571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p99 and KV-cache memory flow back into the controller.</a:t>
            </a:r>
            <a:br>
              <a:rPr lang="en-US" sz="1500"/>
            </a:br>
            <a:r>
              <a:rPr lang="en-US" sz="15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A mock backend and an HF runner cover CPU testing.</a:t>
            </a:r>
            <a:endParaRPr lang="en-US" sz="1500" dirty="0"/>
          </a:p>
        </p:txBody>
      </p:sp>
      <p:sp>
        <p:nvSpPr>
          <p:cNvPr id="24" name="Text: VELOCITYLLM"/>
          <p:cNvSpPr txBox="1"/>
          <p:nvPr/>
        </p:nvSpPr>
        <p:spPr>
          <a:xfrm>
            <a:off x="825500" y="6305550"/>
            <a:ext cx="1075730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10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VELOCITYLLM</a:t>
            </a:r>
            <a:endParaRPr lang="en-US" sz="1100" dirty="0"/>
          </a:p>
        </p:txBody>
      </p:sp>
      <p:sp>
        <p:nvSpPr>
          <p:cNvPr id="25" name="Text: 06 / 10"/>
          <p:cNvSpPr txBox="1"/>
          <p:nvPr/>
        </p:nvSpPr>
        <p:spPr>
          <a:xfrm>
            <a:off x="10783094" y="6305550"/>
            <a:ext cx="58340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06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MEASURED · RTX 5050 8 GB · LLAMA-3.2-1B "/>
          <p:cNvSpPr txBox="1"/>
          <p:nvPr/>
        </p:nvSpPr>
        <p:spPr>
          <a:xfrm>
            <a:off x="825500" y="685800"/>
            <a:ext cx="6841827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182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MEASURED · RTX 5050 8 GB · LLAMA-3.2-1B · 30 S PER LEVEL</a:t>
            </a:r>
            <a:endParaRPr lang="en-US" sz="1300" dirty="0"/>
          </a:p>
        </p:txBody>
      </p:sp>
      <p:sp>
        <p:nvSpPr>
          <p:cNvPr id="3" name="Text: p99 latency against load"/>
          <p:cNvSpPr txBox="1"/>
          <p:nvPr/>
        </p:nvSpPr>
        <p:spPr>
          <a:xfrm>
            <a:off x="825500" y="1150620"/>
            <a:ext cx="6869609" cy="640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spc="-144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p99 latency against load</a:t>
            </a:r>
            <a:endParaRPr lang="en-US" sz="4800" dirty="0"/>
          </a:p>
        </p:txBody>
      </p:sp>
      <p:pic>
        <p:nvPicPr>
          <p:cNvPr id="4" name="Graph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88" y="2693547"/>
            <a:ext cx="9702953" cy="3463327"/>
          </a:xfrm>
          <a:prstGeom prst="rect">
            <a:avLst/>
          </a:prstGeom>
          <a:ln>
            <a:noFill/>
          </a:ln>
        </p:spPr>
      </p:pic>
      <p:sp>
        <p:nvSpPr>
          <p:cNvPr id="5" name="Rounded Rectangle"/>
          <p:cNvSpPr/>
          <p:nvPr/>
        </p:nvSpPr>
        <p:spPr>
          <a:xfrm>
            <a:off x="825500" y="2120900"/>
            <a:ext cx="228600" cy="50800"/>
          </a:xfrm>
          <a:prstGeom prst="roundRect">
            <a:avLst>
              <a:gd name="adj" fmla="val 50000"/>
            </a:avLst>
          </a:prstGeom>
          <a:solidFill>
            <a:srgbClr val="B9B9B2"/>
          </a:solidFill>
          <a:ln>
            <a:noFill/>
          </a:ln>
        </p:spPr>
      </p:sp>
      <p:sp>
        <p:nvSpPr>
          <p:cNvPr id="6" name="Text: Static, batch of 8"/>
          <p:cNvSpPr txBox="1"/>
          <p:nvPr/>
        </p:nvSpPr>
        <p:spPr>
          <a:xfrm>
            <a:off x="1168400" y="2012950"/>
            <a:ext cx="163681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4F2EC"/>
                </a:solidFill>
                <a:latin typeface="VL Mono"/>
                <a:ea typeface="VL Mono"/>
                <a:cs typeface="VL Mono"/>
              </a:rPr>
              <a:t>Static, batch of 8</a:t>
            </a:r>
            <a:endParaRPr lang="en-US" sz="1200" dirty="0"/>
          </a:p>
        </p:txBody>
      </p:sp>
      <p:sp>
        <p:nvSpPr>
          <p:cNvPr id="7" name="Rounded Rectangle"/>
          <p:cNvSpPr/>
          <p:nvPr/>
        </p:nvSpPr>
        <p:spPr>
          <a:xfrm>
            <a:off x="3160812" y="2120900"/>
            <a:ext cx="228600" cy="50800"/>
          </a:xfrm>
          <a:prstGeom prst="roundRect">
            <a:avLst>
              <a:gd name="adj" fmla="val 50000"/>
            </a:avLst>
          </a:prstGeom>
          <a:solidFill>
            <a:srgbClr val="6B6B66"/>
          </a:solidFill>
          <a:ln>
            <a:noFill/>
          </a:ln>
        </p:spPr>
      </p:sp>
      <p:sp>
        <p:nvSpPr>
          <p:cNvPr id="8" name="Text: Static, wait to fill"/>
          <p:cNvSpPr txBox="1"/>
          <p:nvPr/>
        </p:nvSpPr>
        <p:spPr>
          <a:xfrm>
            <a:off x="3503712" y="2012950"/>
            <a:ext cx="181868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4F2EC"/>
                </a:solidFill>
                <a:latin typeface="VL Mono"/>
                <a:ea typeface="VL Mono"/>
                <a:cs typeface="VL Mono"/>
              </a:rPr>
              <a:t>Static, wait to fill</a:t>
            </a:r>
            <a:endParaRPr lang="en-US" sz="1200" dirty="0"/>
          </a:p>
        </p:txBody>
      </p:sp>
      <p:sp>
        <p:nvSpPr>
          <p:cNvPr id="9" name="Rounded Rectangle"/>
          <p:cNvSpPr/>
          <p:nvPr/>
        </p:nvSpPr>
        <p:spPr>
          <a:xfrm>
            <a:off x="5677991" y="2120900"/>
            <a:ext cx="228600" cy="50800"/>
          </a:xfrm>
          <a:prstGeom prst="roundRect">
            <a:avLst>
              <a:gd name="adj" fmla="val 50000"/>
            </a:avLst>
          </a:prstGeom>
          <a:solidFill>
            <a:srgbClr val="FF4D1C"/>
          </a:solidFill>
          <a:ln>
            <a:noFill/>
          </a:ln>
        </p:spPr>
      </p:sp>
      <p:sp>
        <p:nvSpPr>
          <p:cNvPr id="10" name="Text: VelocityLLM"/>
          <p:cNvSpPr txBox="1"/>
          <p:nvPr/>
        </p:nvSpPr>
        <p:spPr>
          <a:xfrm>
            <a:off x="6020891" y="2012950"/>
            <a:ext cx="100032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F4F2EC"/>
                </a:solidFill>
                <a:latin typeface="VL Mono"/>
                <a:ea typeface="VL Mono"/>
                <a:cs typeface="VL Mono"/>
              </a:rPr>
              <a:t>VelocityLLM</a:t>
            </a:r>
            <a:endParaRPr lang="en-US" sz="1200" dirty="0"/>
          </a:p>
        </p:txBody>
      </p:sp>
      <p:sp>
        <p:nvSpPr>
          <p:cNvPr id="11" name="Text: VELOCITYLLM"/>
          <p:cNvSpPr txBox="1"/>
          <p:nvPr/>
        </p:nvSpPr>
        <p:spPr>
          <a:xfrm>
            <a:off x="825500" y="6305550"/>
            <a:ext cx="1075730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10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VELOCITYLLM</a:t>
            </a:r>
            <a:endParaRPr lang="en-US" sz="1100" dirty="0"/>
          </a:p>
        </p:txBody>
      </p:sp>
      <p:sp>
        <p:nvSpPr>
          <p:cNvPr id="12" name="Text: 07 / 10"/>
          <p:cNvSpPr txBox="1"/>
          <p:nvPr/>
        </p:nvSpPr>
        <p:spPr>
          <a:xfrm>
            <a:off x="10783094" y="6305550"/>
            <a:ext cx="58340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07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AT 24 REQUESTS PER SECOND"/>
          <p:cNvSpPr txBox="1"/>
          <p:nvPr/>
        </p:nvSpPr>
        <p:spPr>
          <a:xfrm>
            <a:off x="825500" y="685800"/>
            <a:ext cx="3054449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182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AT 24 REQUESTS PER SECOND</a:t>
            </a:r>
            <a:endParaRPr lang="en-US" sz="1300" dirty="0"/>
          </a:p>
        </p:txBody>
      </p:sp>
      <p:sp>
        <p:nvSpPr>
          <p:cNvPr id="3" name="Text: Same GPU. Different outcome."/>
          <p:cNvSpPr txBox="1"/>
          <p:nvPr/>
        </p:nvSpPr>
        <p:spPr>
          <a:xfrm>
            <a:off x="825500" y="1150620"/>
            <a:ext cx="8272859" cy="640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spc="-144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Same GPU. Different outcome.</a:t>
            </a:r>
            <a:endParaRPr lang="en-US" sz="4800" dirty="0"/>
          </a:p>
        </p:txBody>
      </p:sp>
      <p:sp>
        <p:nvSpPr>
          <p:cNvPr id="4" name="Rounded Rectangle"/>
          <p:cNvSpPr/>
          <p:nvPr/>
        </p:nvSpPr>
        <p:spPr>
          <a:xfrm>
            <a:off x="828675" y="2237085"/>
            <a:ext cx="5137150" cy="3803650"/>
          </a:xfrm>
          <a:prstGeom prst="roundRect">
            <a:avLst>
              <a:gd name="adj" fmla="val 2922"/>
            </a:avLst>
          </a:prstGeom>
          <a:solidFill>
            <a:srgbClr val="121211"/>
          </a:solidFill>
          <a:ln w="6350" cap="flat" cmpd="sng" algn="ctr">
            <a:solidFill>
              <a:srgbClr val="2A2A27"/>
            </a:solidFill>
            <a:miter lim="800000"/>
          </a:ln>
        </p:spPr>
      </p:sp>
      <p:sp>
        <p:nvSpPr>
          <p:cNvPr id="5" name="Text: ON TIME"/>
          <p:cNvSpPr txBox="1"/>
          <p:nvPr/>
        </p:nvSpPr>
        <p:spPr>
          <a:xfrm>
            <a:off x="1162050" y="2576810"/>
            <a:ext cx="78948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68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ON TIME</a:t>
            </a:r>
            <a:endParaRPr lang="en-US" sz="1200" dirty="0"/>
          </a:p>
        </p:txBody>
      </p:sp>
      <p:sp>
        <p:nvSpPr>
          <p:cNvPr id="6" name="Text: 12%"/>
          <p:cNvSpPr txBox="1"/>
          <p:nvPr/>
        </p:nvSpPr>
        <p:spPr>
          <a:xfrm>
            <a:off x="1162050" y="3516610"/>
            <a:ext cx="1347291" cy="11239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b="1" spc="-4" dirty="0">
                <a:solidFill>
                  <a:srgbClr val="B9B9B2"/>
                </a:solidFill>
                <a:latin typeface="VL Mono"/>
                <a:ea typeface="VL Mono"/>
                <a:cs typeface="VL Mono"/>
              </a:rPr>
              <a:t>12%</a:t>
            </a:r>
            <a:endParaRPr lang="en-US" sz="5900" dirty="0"/>
          </a:p>
        </p:txBody>
      </p:sp>
      <p:sp>
        <p:nvSpPr>
          <p:cNvPr id="7" name="Text: →"/>
          <p:cNvSpPr txBox="1"/>
          <p:nvPr/>
        </p:nvSpPr>
        <p:spPr>
          <a:xfrm>
            <a:off x="2687141" y="3961110"/>
            <a:ext cx="228898" cy="571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→</a:t>
            </a:r>
            <a:endParaRPr lang="en-US" sz="3000" dirty="0"/>
          </a:p>
        </p:txBody>
      </p:sp>
      <p:sp>
        <p:nvSpPr>
          <p:cNvPr id="8" name="Text: 100%"/>
          <p:cNvSpPr txBox="1"/>
          <p:nvPr/>
        </p:nvSpPr>
        <p:spPr>
          <a:xfrm>
            <a:off x="3093839" y="3516610"/>
            <a:ext cx="1796355" cy="11239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b="1" spc="-4" dirty="0">
                <a:solidFill>
                  <a:srgbClr val="FF4D1C"/>
                </a:solidFill>
                <a:latin typeface="VL Mono"/>
                <a:ea typeface="VL Mono"/>
                <a:cs typeface="VL Mono"/>
              </a:rPr>
              <a:t>100%</a:t>
            </a:r>
            <a:endParaRPr lang="en-US" sz="5900" dirty="0"/>
          </a:p>
        </p:txBody>
      </p:sp>
      <p:sp>
        <p:nvSpPr>
          <p:cNvPr id="9" name="Text: static → VelocityLLM"/>
          <p:cNvSpPr txBox="1"/>
          <p:nvPr/>
        </p:nvSpPr>
        <p:spPr>
          <a:xfrm>
            <a:off x="1162050" y="5459710"/>
            <a:ext cx="1971477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static → VelocityLLM</a:t>
            </a:r>
            <a:endParaRPr lang="en-US" sz="1300" dirty="0"/>
          </a:p>
        </p:txBody>
      </p:sp>
      <p:sp>
        <p:nvSpPr>
          <p:cNvPr id="10" name="Rounded Rectangle"/>
          <p:cNvSpPr/>
          <p:nvPr/>
        </p:nvSpPr>
        <p:spPr>
          <a:xfrm>
            <a:off x="6226175" y="2237085"/>
            <a:ext cx="5137150" cy="3803650"/>
          </a:xfrm>
          <a:prstGeom prst="roundRect">
            <a:avLst>
              <a:gd name="adj" fmla="val 2922"/>
            </a:avLst>
          </a:prstGeom>
          <a:solidFill>
            <a:srgbClr val="121211"/>
          </a:solidFill>
          <a:ln w="6350" cap="flat" cmpd="sng" algn="ctr">
            <a:solidFill>
              <a:srgbClr val="2A2A27"/>
            </a:solidFill>
            <a:miter lim="800000"/>
          </a:ln>
        </p:spPr>
      </p:sp>
      <p:sp>
        <p:nvSpPr>
          <p:cNvPr id="11" name="Text: GOODPUT, TOKENS/S"/>
          <p:cNvSpPr txBox="1"/>
          <p:nvPr/>
        </p:nvSpPr>
        <p:spPr>
          <a:xfrm>
            <a:off x="6559550" y="2576810"/>
            <a:ext cx="191720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68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GOODPUT, TOKENS/S</a:t>
            </a:r>
            <a:endParaRPr lang="en-US" sz="1200" dirty="0"/>
          </a:p>
        </p:txBody>
      </p:sp>
      <p:sp>
        <p:nvSpPr>
          <p:cNvPr id="12" name="Text: 80"/>
          <p:cNvSpPr txBox="1"/>
          <p:nvPr/>
        </p:nvSpPr>
        <p:spPr>
          <a:xfrm>
            <a:off x="6559550" y="3516610"/>
            <a:ext cx="898227" cy="11239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b="1" spc="-4" dirty="0">
                <a:solidFill>
                  <a:srgbClr val="B9B9B2"/>
                </a:solidFill>
                <a:latin typeface="VL Mono"/>
                <a:ea typeface="VL Mono"/>
                <a:cs typeface="VL Mono"/>
              </a:rPr>
              <a:t>80</a:t>
            </a:r>
            <a:endParaRPr lang="en-US" sz="5900" dirty="0"/>
          </a:p>
        </p:txBody>
      </p:sp>
      <p:sp>
        <p:nvSpPr>
          <p:cNvPr id="13" name="Text: →"/>
          <p:cNvSpPr txBox="1"/>
          <p:nvPr/>
        </p:nvSpPr>
        <p:spPr>
          <a:xfrm>
            <a:off x="7635577" y="3961110"/>
            <a:ext cx="228898" cy="571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→</a:t>
            </a:r>
            <a:endParaRPr lang="en-US" sz="3000" dirty="0"/>
          </a:p>
        </p:txBody>
      </p:sp>
      <p:sp>
        <p:nvSpPr>
          <p:cNvPr id="14" name="Text: 2,109"/>
          <p:cNvSpPr txBox="1"/>
          <p:nvPr/>
        </p:nvSpPr>
        <p:spPr>
          <a:xfrm>
            <a:off x="8042275" y="3516610"/>
            <a:ext cx="2245420" cy="11239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b="1" spc="-4" dirty="0">
                <a:solidFill>
                  <a:srgbClr val="FF4D1C"/>
                </a:solidFill>
                <a:latin typeface="VL Mono"/>
                <a:ea typeface="VL Mono"/>
                <a:cs typeface="VL Mono"/>
              </a:rPr>
              <a:t>2,109</a:t>
            </a:r>
            <a:endParaRPr lang="en-US" sz="5900" dirty="0"/>
          </a:p>
        </p:txBody>
      </p:sp>
      <p:sp>
        <p:nvSpPr>
          <p:cNvPr id="15" name="Text: static → VelocityLLM"/>
          <p:cNvSpPr txBox="1"/>
          <p:nvPr/>
        </p:nvSpPr>
        <p:spPr>
          <a:xfrm>
            <a:off x="6559550" y="5459710"/>
            <a:ext cx="1971477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static → VelocityLLM</a:t>
            </a:r>
            <a:endParaRPr lang="en-US" sz="1300" dirty="0"/>
          </a:p>
        </p:txBody>
      </p:sp>
      <p:sp>
        <p:nvSpPr>
          <p:cNvPr id="16" name="Text: VELOCITYLLM"/>
          <p:cNvSpPr txBox="1"/>
          <p:nvPr/>
        </p:nvSpPr>
        <p:spPr>
          <a:xfrm>
            <a:off x="825500" y="6305550"/>
            <a:ext cx="1075730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10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VELOCITYLLM</a:t>
            </a:r>
            <a:endParaRPr lang="en-US" sz="1100" dirty="0"/>
          </a:p>
        </p:txBody>
      </p:sp>
      <p:sp>
        <p:nvSpPr>
          <p:cNvPr id="17" name="Text: 08 / 10"/>
          <p:cNvSpPr txBox="1"/>
          <p:nvPr/>
        </p:nvSpPr>
        <p:spPr>
          <a:xfrm>
            <a:off x="10783094" y="6305550"/>
            <a:ext cx="58340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08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WHAT WE BUILT"/>
          <p:cNvSpPr txBox="1"/>
          <p:nvPr/>
        </p:nvSpPr>
        <p:spPr>
          <a:xfrm>
            <a:off x="825500" y="685800"/>
            <a:ext cx="1588294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182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WHAT WE BUILT</a:t>
            </a:r>
            <a:endParaRPr lang="en-US" sz="1300" dirty="0"/>
          </a:p>
        </p:txBody>
      </p:sp>
      <p:sp>
        <p:nvSpPr>
          <p:cNvPr id="3" name="Text: More than a scheduler."/>
          <p:cNvSpPr txBox="1"/>
          <p:nvPr/>
        </p:nvSpPr>
        <p:spPr>
          <a:xfrm>
            <a:off x="825500" y="1150620"/>
            <a:ext cx="6339284" cy="640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spc="-144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More than a scheduler.</a:t>
            </a:r>
            <a:endParaRPr lang="en-US" sz="4800" dirty="0"/>
          </a:p>
        </p:txBody>
      </p:sp>
      <p:sp>
        <p:nvSpPr>
          <p:cNvPr id="4" name="Rounded Rectangle"/>
          <p:cNvSpPr/>
          <p:nvPr/>
        </p:nvSpPr>
        <p:spPr>
          <a:xfrm>
            <a:off x="828675" y="2110085"/>
            <a:ext cx="3405684" cy="1771650"/>
          </a:xfrm>
          <a:prstGeom prst="roundRect">
            <a:avLst>
              <a:gd name="adj" fmla="val 6272"/>
            </a:avLst>
          </a:prstGeom>
          <a:solidFill>
            <a:srgbClr val="121211"/>
          </a:solidFill>
          <a:ln w="6350" cap="flat" cmpd="sng" algn="ctr">
            <a:solidFill>
              <a:srgbClr val="2A2A27"/>
            </a:solidFill>
            <a:miter lim="800000"/>
          </a:ln>
        </p:spPr>
      </p:sp>
      <p:sp>
        <p:nvSpPr>
          <p:cNvPr id="5" name="Text: Engine"/>
          <p:cNvSpPr txBox="1"/>
          <p:nvPr/>
        </p:nvSpPr>
        <p:spPr>
          <a:xfrm>
            <a:off x="1073150" y="2297410"/>
            <a:ext cx="909836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spc="-4" dirty="0">
                <a:solidFill>
                  <a:srgbClr val="FF4D1C"/>
                </a:solidFill>
                <a:latin typeface="VL Grotesk"/>
                <a:ea typeface="VL Grotesk"/>
                <a:cs typeface="VL Grotesk"/>
              </a:rPr>
              <a:t>Engine</a:t>
            </a:r>
            <a:endParaRPr lang="en-US" sz="2200" dirty="0"/>
          </a:p>
        </p:txBody>
      </p:sp>
      <p:sp>
        <p:nvSpPr>
          <p:cNvPr id="6" name="Text: vLLM, HF Transformers and mock backends "/>
          <p:cNvSpPr txBox="1"/>
          <p:nvPr/>
        </p:nvSpPr>
        <p:spPr>
          <a:xfrm>
            <a:off x="1073150" y="2842320"/>
            <a:ext cx="2541488" cy="82272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vLLM, HF Transformers and</a:t>
            </a:r>
            <a:br>
              <a:rPr lang="en-US" sz="1600"/>
            </a:br>
            <a:r>
              <a:rPr lang="en-US" sz="16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mock backends behind one</a:t>
            </a:r>
            <a:br>
              <a:rPr lang="en-US" sz="1600"/>
            </a:br>
            <a:r>
              <a:rPr lang="en-US" sz="16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interface</a:t>
            </a:r>
            <a:endParaRPr lang="en-US" sz="1600" dirty="0"/>
          </a:p>
        </p:txBody>
      </p:sp>
      <p:sp>
        <p:nvSpPr>
          <p:cNvPr id="7" name="Rounded Rectangle"/>
          <p:cNvSpPr/>
          <p:nvPr/>
        </p:nvSpPr>
        <p:spPr>
          <a:xfrm>
            <a:off x="4393109" y="2110085"/>
            <a:ext cx="3405684" cy="1771650"/>
          </a:xfrm>
          <a:prstGeom prst="roundRect">
            <a:avLst>
              <a:gd name="adj" fmla="val 6272"/>
            </a:avLst>
          </a:prstGeom>
          <a:solidFill>
            <a:srgbClr val="121211"/>
          </a:solidFill>
          <a:ln w="6350" cap="flat" cmpd="sng" algn="ctr">
            <a:solidFill>
              <a:srgbClr val="2A2A27"/>
            </a:solidFill>
            <a:miter lim="800000"/>
          </a:ln>
        </p:spPr>
      </p:sp>
      <p:sp>
        <p:nvSpPr>
          <p:cNvPr id="8" name="Text: Control service"/>
          <p:cNvSpPr txBox="1"/>
          <p:nvPr/>
        </p:nvSpPr>
        <p:spPr>
          <a:xfrm>
            <a:off x="4637584" y="2297410"/>
            <a:ext cx="2029222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spc="-4" dirty="0">
                <a:solidFill>
                  <a:srgbClr val="FF4D1C"/>
                </a:solidFill>
                <a:latin typeface="VL Grotesk"/>
                <a:ea typeface="VL Grotesk"/>
                <a:cs typeface="VL Grotesk"/>
              </a:rPr>
              <a:t>Control service</a:t>
            </a:r>
            <a:endParaRPr lang="en-US" sz="2200" dirty="0"/>
          </a:p>
        </p:txBody>
      </p:sp>
      <p:sp>
        <p:nvSpPr>
          <p:cNvPr id="9" name="Text: FastAPI endpoints, live metrics and cont"/>
          <p:cNvSpPr txBox="1"/>
          <p:nvPr/>
        </p:nvSpPr>
        <p:spPr>
          <a:xfrm>
            <a:off x="4637584" y="2842320"/>
            <a:ext cx="2840930" cy="54848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FastAPI endpoints, live metrics</a:t>
            </a:r>
            <a:br>
              <a:rPr lang="en-US" sz="1600"/>
            </a:br>
            <a:r>
              <a:rPr lang="en-US" sz="16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and controller state</a:t>
            </a:r>
            <a:endParaRPr lang="en-US" sz="1600" dirty="0"/>
          </a:p>
        </p:txBody>
      </p:sp>
      <p:sp>
        <p:nvSpPr>
          <p:cNvPr id="10" name="Rounded Rectangle"/>
          <p:cNvSpPr/>
          <p:nvPr/>
        </p:nvSpPr>
        <p:spPr>
          <a:xfrm>
            <a:off x="7957542" y="2110085"/>
            <a:ext cx="3405684" cy="1771650"/>
          </a:xfrm>
          <a:prstGeom prst="roundRect">
            <a:avLst>
              <a:gd name="adj" fmla="val 6272"/>
            </a:avLst>
          </a:prstGeom>
          <a:solidFill>
            <a:srgbClr val="121211"/>
          </a:solidFill>
          <a:ln w="6350" cap="flat" cmpd="sng" algn="ctr">
            <a:solidFill>
              <a:srgbClr val="2A2A27"/>
            </a:solidFill>
            <a:miter lim="800000"/>
          </a:ln>
        </p:spPr>
      </p:sp>
      <p:sp>
        <p:nvSpPr>
          <p:cNvPr id="11" name="Text: Load tools"/>
          <p:cNvSpPr txBox="1"/>
          <p:nvPr/>
        </p:nvSpPr>
        <p:spPr>
          <a:xfrm>
            <a:off x="8202017" y="2297410"/>
            <a:ext cx="1410494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spc="-4" dirty="0">
                <a:solidFill>
                  <a:srgbClr val="FF4D1C"/>
                </a:solidFill>
                <a:latin typeface="VL Grotesk"/>
                <a:ea typeface="VL Grotesk"/>
                <a:cs typeface="VL Grotesk"/>
              </a:rPr>
              <a:t>Load tools</a:t>
            </a:r>
            <a:endParaRPr lang="en-US" sz="2200" dirty="0"/>
          </a:p>
        </p:txBody>
      </p:sp>
      <p:sp>
        <p:nvSpPr>
          <p:cNvPr id="12" name="Text: Async load generator and rate sweeps wit"/>
          <p:cNvSpPr txBox="1"/>
          <p:nvPr/>
        </p:nvSpPr>
        <p:spPr>
          <a:xfrm>
            <a:off x="8202017" y="2842320"/>
            <a:ext cx="2759373" cy="54848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Async load generator and rate</a:t>
            </a:r>
            <a:br>
              <a:rPr lang="en-US" sz="1600"/>
            </a:br>
            <a:r>
              <a:rPr lang="en-US" sz="16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sweeps with SLA reports</a:t>
            </a:r>
            <a:endParaRPr lang="en-US" sz="1600" dirty="0"/>
          </a:p>
        </p:txBody>
      </p:sp>
      <p:sp>
        <p:nvSpPr>
          <p:cNvPr id="13" name="Rounded Rectangle"/>
          <p:cNvSpPr/>
          <p:nvPr/>
        </p:nvSpPr>
        <p:spPr>
          <a:xfrm>
            <a:off x="828675" y="4040485"/>
            <a:ext cx="3405684" cy="1771650"/>
          </a:xfrm>
          <a:prstGeom prst="roundRect">
            <a:avLst>
              <a:gd name="adj" fmla="val 6272"/>
            </a:avLst>
          </a:prstGeom>
          <a:solidFill>
            <a:srgbClr val="121211"/>
          </a:solidFill>
          <a:ln w="6350" cap="flat" cmpd="sng" algn="ctr">
            <a:solidFill>
              <a:srgbClr val="2A2A27"/>
            </a:solidFill>
            <a:miter lim="800000"/>
          </a:ln>
        </p:spPr>
      </p:sp>
      <p:sp>
        <p:nvSpPr>
          <p:cNvPr id="14" name="Text: Web app"/>
          <p:cNvSpPr txBox="1"/>
          <p:nvPr/>
        </p:nvSpPr>
        <p:spPr>
          <a:xfrm>
            <a:off x="1073150" y="4227810"/>
            <a:ext cx="1173857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spc="-4" dirty="0">
                <a:solidFill>
                  <a:srgbClr val="FF4D1C"/>
                </a:solidFill>
                <a:latin typeface="VL Grotesk"/>
                <a:ea typeface="VL Grotesk"/>
                <a:cs typeface="VL Grotesk"/>
              </a:rPr>
              <a:t>Web app</a:t>
            </a:r>
            <a:endParaRPr lang="en-US" sz="2200" dirty="0"/>
          </a:p>
        </p:txBody>
      </p:sp>
      <p:sp>
        <p:nvSpPr>
          <p:cNvPr id="15" name="Text: A site that races static against dynamic"/>
          <p:cNvSpPr txBox="1"/>
          <p:nvPr/>
        </p:nvSpPr>
        <p:spPr>
          <a:xfrm>
            <a:off x="1073150" y="4772720"/>
            <a:ext cx="2790428" cy="54848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A site that races static against</a:t>
            </a:r>
            <a:br>
              <a:rPr lang="en-US" sz="1600"/>
            </a:br>
            <a:r>
              <a:rPr lang="en-US" sz="16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dynamic, live</a:t>
            </a:r>
            <a:endParaRPr lang="en-US" sz="1600" dirty="0"/>
          </a:p>
        </p:txBody>
      </p:sp>
      <p:sp>
        <p:nvSpPr>
          <p:cNvPr id="16" name="Rounded Rectangle"/>
          <p:cNvSpPr/>
          <p:nvPr/>
        </p:nvSpPr>
        <p:spPr>
          <a:xfrm>
            <a:off x="4393109" y="4040485"/>
            <a:ext cx="3405684" cy="1771650"/>
          </a:xfrm>
          <a:prstGeom prst="roundRect">
            <a:avLst>
              <a:gd name="adj" fmla="val 6272"/>
            </a:avLst>
          </a:prstGeom>
          <a:solidFill>
            <a:srgbClr val="121211"/>
          </a:solidFill>
          <a:ln w="6350" cap="flat" cmpd="sng" algn="ctr">
            <a:solidFill>
              <a:srgbClr val="2A2A27"/>
            </a:solidFill>
            <a:miter lim="800000"/>
          </a:ln>
        </p:spPr>
      </p:sp>
      <p:sp>
        <p:nvSpPr>
          <p:cNvPr id="17" name="Text: Package"/>
          <p:cNvSpPr txBox="1"/>
          <p:nvPr/>
        </p:nvSpPr>
        <p:spPr>
          <a:xfrm>
            <a:off x="4637584" y="4227810"/>
            <a:ext cx="1136848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spc="-4" dirty="0">
                <a:solidFill>
                  <a:srgbClr val="FF4D1C"/>
                </a:solidFill>
                <a:latin typeface="VL Grotesk"/>
                <a:ea typeface="VL Grotesk"/>
                <a:cs typeface="VL Grotesk"/>
              </a:rPr>
              <a:t>Package</a:t>
            </a:r>
            <a:endParaRPr lang="en-US" sz="2200" dirty="0"/>
          </a:p>
        </p:txBody>
      </p:sp>
      <p:sp>
        <p:nvSpPr>
          <p:cNvPr id="18" name="Text: pip install velocityllm on PyPI"/>
          <p:cNvSpPr txBox="1"/>
          <p:nvPr/>
        </p:nvSpPr>
        <p:spPr>
          <a:xfrm>
            <a:off x="4637584" y="4772640"/>
            <a:ext cx="2691507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pip install velocityllm on PyPI</a:t>
            </a:r>
            <a:endParaRPr lang="en-US" sz="1600" dirty="0"/>
          </a:p>
        </p:txBody>
      </p:sp>
      <p:sp>
        <p:nvSpPr>
          <p:cNvPr id="19" name="Rounded Rectangle"/>
          <p:cNvSpPr/>
          <p:nvPr/>
        </p:nvSpPr>
        <p:spPr>
          <a:xfrm>
            <a:off x="7957542" y="4040485"/>
            <a:ext cx="3405684" cy="1771650"/>
          </a:xfrm>
          <a:prstGeom prst="roundRect">
            <a:avLst>
              <a:gd name="adj" fmla="val 6272"/>
            </a:avLst>
          </a:prstGeom>
          <a:solidFill>
            <a:srgbClr val="121211"/>
          </a:solidFill>
          <a:ln w="6350" cap="flat" cmpd="sng" algn="ctr">
            <a:solidFill>
              <a:srgbClr val="2A2A27"/>
            </a:solidFill>
            <a:miter lim="800000"/>
          </a:ln>
        </p:spPr>
      </p:sp>
      <p:sp>
        <p:nvSpPr>
          <p:cNvPr id="20" name="Text: Deploy"/>
          <p:cNvSpPr txBox="1"/>
          <p:nvPr/>
        </p:nvSpPr>
        <p:spPr>
          <a:xfrm>
            <a:off x="8202017" y="4227810"/>
            <a:ext cx="939701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spc="-4" dirty="0">
                <a:solidFill>
                  <a:srgbClr val="FF4D1C"/>
                </a:solidFill>
                <a:latin typeface="VL Grotesk"/>
                <a:ea typeface="VL Grotesk"/>
                <a:cs typeface="VL Grotesk"/>
              </a:rPr>
              <a:t>Deploy</a:t>
            </a:r>
            <a:endParaRPr lang="en-US" sz="2200" dirty="0"/>
          </a:p>
        </p:txBody>
      </p:sp>
      <p:sp>
        <p:nvSpPr>
          <p:cNvPr id="21" name="Text: Docker image on vllm-openai and Triton s"/>
          <p:cNvSpPr txBox="1"/>
          <p:nvPr/>
        </p:nvSpPr>
        <p:spPr>
          <a:xfrm>
            <a:off x="8202017" y="4772720"/>
            <a:ext cx="2704505" cy="54848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Docker image on vllm-openai</a:t>
            </a:r>
            <a:br>
              <a:rPr lang="en-US" sz="1600"/>
            </a:br>
            <a:r>
              <a:rPr lang="en-US" sz="1600" spc="-4" dirty="0">
                <a:solidFill>
                  <a:srgbClr val="B9B9B2"/>
                </a:solidFill>
                <a:latin typeface="VL Geist"/>
                <a:ea typeface="VL Geist"/>
                <a:cs typeface="VL Geist"/>
              </a:rPr>
              <a:t>and Triton scripts</a:t>
            </a:r>
            <a:endParaRPr lang="en-US" sz="1600" dirty="0"/>
          </a:p>
        </p:txBody>
      </p:sp>
      <p:sp>
        <p:nvSpPr>
          <p:cNvPr id="22" name="Text: VELOCITYLLM"/>
          <p:cNvSpPr txBox="1"/>
          <p:nvPr/>
        </p:nvSpPr>
        <p:spPr>
          <a:xfrm>
            <a:off x="825500" y="6305550"/>
            <a:ext cx="1075730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10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VELOCITYLLM</a:t>
            </a:r>
            <a:endParaRPr lang="en-US" sz="1100" dirty="0"/>
          </a:p>
        </p:txBody>
      </p:sp>
      <p:sp>
        <p:nvSpPr>
          <p:cNvPr id="23" name="Text: 09 / 10"/>
          <p:cNvSpPr txBox="1"/>
          <p:nvPr/>
        </p:nvSpPr>
        <p:spPr>
          <a:xfrm>
            <a:off x="10783094" y="6305550"/>
            <a:ext cx="58340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09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12% on time became  100% ."/>
          <p:cNvSpPr txBox="1"/>
          <p:nvPr/>
        </p:nvSpPr>
        <p:spPr>
          <a:xfrm>
            <a:off x="1202730" y="1798638"/>
            <a:ext cx="9786441" cy="8667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68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spc="-260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12% on time became </a:t>
            </a:r>
            <a:r>
              <a:rPr lang="en-US" sz="6500" b="1" spc="-260" dirty="0">
                <a:solidFill>
                  <a:srgbClr val="FF4D1C"/>
                </a:solidFill>
                <a:latin typeface="VL Grotesk"/>
                <a:ea typeface="VL Grotesk"/>
                <a:cs typeface="VL Grotesk"/>
              </a:rPr>
              <a:t>100%</a:t>
            </a:r>
            <a:r>
              <a:rPr lang="en-US" sz="6500" b="1" spc="-260" dirty="0">
                <a:solidFill>
                  <a:srgbClr val="F4F2EC"/>
                </a:solidFill>
                <a:latin typeface="VL Grotesk"/>
                <a:ea typeface="VL Grotesk"/>
                <a:cs typeface="VL Grotesk"/>
              </a:rPr>
              <a:t>.</a:t>
            </a:r>
            <a:endParaRPr lang="en-US" sz="6500" dirty="0"/>
          </a:p>
        </p:txBody>
      </p:sp>
      <p:sp>
        <p:nvSpPr>
          <p:cNvPr id="3" name="Text: pip install velocityllm"/>
          <p:cNvSpPr txBox="1"/>
          <p:nvPr/>
        </p:nvSpPr>
        <p:spPr>
          <a:xfrm>
            <a:off x="3735784" y="3049588"/>
            <a:ext cx="4720332" cy="514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4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spc="-4" dirty="0">
                <a:solidFill>
                  <a:srgbClr val="FF4D1C"/>
                </a:solidFill>
                <a:latin typeface="VL Mono"/>
                <a:ea typeface="VL Mono"/>
                <a:cs typeface="VL Mono"/>
              </a:rPr>
              <a:t>pip install velocityllm</a:t>
            </a:r>
            <a:endParaRPr lang="en-US" sz="2700" dirty="0"/>
          </a:p>
        </p:txBody>
      </p:sp>
      <p:sp>
        <p:nvSpPr>
          <p:cNvPr id="4" name="Text: github.com/kartikpagariya25/VelocityLLM"/>
          <p:cNvSpPr txBox="1"/>
          <p:nvPr/>
        </p:nvSpPr>
        <p:spPr>
          <a:xfrm>
            <a:off x="3579813" y="3754438"/>
            <a:ext cx="5032276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spc="-4" dirty="0">
                <a:solidFill>
                  <a:srgbClr val="B9B9B2"/>
                </a:solidFill>
                <a:latin typeface="VL Mono"/>
                <a:ea typeface="VL Mono"/>
                <a:cs typeface="VL Mono"/>
              </a:rPr>
              <a:t>github.com/kartikpagariya25/VelocityLLM</a:t>
            </a:r>
            <a:endParaRPr lang="en-US" sz="1700" dirty="0"/>
          </a:p>
        </p:txBody>
      </p:sp>
      <p:sp>
        <p:nvSpPr>
          <p:cNvPr id="5" name="Text: KARTIK · VIKRANT · ADITYA · PRANALI"/>
          <p:cNvSpPr txBox="1"/>
          <p:nvPr/>
        </p:nvSpPr>
        <p:spPr>
          <a:xfrm>
            <a:off x="4122341" y="4840288"/>
            <a:ext cx="394722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68" dirty="0">
                <a:solidFill>
                  <a:srgbClr val="8D8D86"/>
                </a:solidFill>
                <a:latin typeface="VL Mono"/>
                <a:ea typeface="VL Mono"/>
                <a:cs typeface="VL Mono"/>
              </a:rPr>
              <a:t>KARTIK · VIKRANT · ADITYA · PRANALI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